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6262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ADF exposes a typed Protobuf API for filters, aggregation keys and attributes. For logic SQL cannot express, clients provide a JAR that implements the transform method of ADF's plugin interface. The request names the plugin; ADF loads that JAR, runs transform on a Spark DataFrame using its Spark context, and returns the prepared data to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C4 container view. The consumer calls the typed Protobuf API. Without a plugin name the request goes to the query engine; with one, the plugin framework loads the client-provided JAR and invokes transform. Both paths run on the Spark runtime over HDFS. Plugin developers build the JARs that ADF hosts.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721320"/>
            <a:ext cx="109728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417241"/>
            <a:ext cx="10769600" cy="462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721320"/>
            <a:ext cx="109728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609600" y="1417241"/>
            <a:ext cx="10769600" cy="4627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600" y="4572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06A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XYZ · PLUGIN FRAMEWORK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609600" y="721320"/>
            <a:ext cx="113019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BYOT - Client owned transform logic, hosted and run by </a:t>
            </a:r>
            <a:r>
              <a:rPr lang="en-US" sz="2800" b="1" i="0" dirty="0" err="1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xyz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5950" y="1321991"/>
            <a:ext cx="3289300" cy="1313656"/>
          </a:xfrm>
          <a:prstGeom prst="roundRect">
            <a:avLst>
              <a:gd name="adj" fmla="val 7251"/>
            </a:avLst>
          </a:prstGeom>
          <a:solidFill>
            <a:srgbClr val="D6EEFB"/>
          </a:solidFill>
          <a:ln w="12700">
            <a:solidFill>
              <a:srgbClr val="007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0100" y="1506141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API path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0100" y="1782961"/>
            <a:ext cx="3008630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Typed Protobuf requests: filters, aggregation keys, attributes. SQL-style logic only.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5950" y="3089970"/>
            <a:ext cx="3289300" cy="1536502"/>
          </a:xfrm>
          <a:prstGeom prst="roundRect">
            <a:avLst>
              <a:gd name="adj" fmla="val 6199"/>
            </a:avLst>
          </a:prstGeom>
          <a:solidFill>
            <a:srgbClr val="00AEEF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0100" y="3274120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Plugin framework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0100" y="3550940"/>
            <a:ext cx="3008630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Multi-step logic beyond SQL: custom transforms, mapping, joins with other datasets. Clients ship a JAR; </a:t>
            </a:r>
            <a:r>
              <a:rPr lang="en-US" sz="1300" dirty="0" err="1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xyz</a:t>
            </a:r>
            <a:r>
              <a:rPr lang="en-US" sz="1300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hosts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5950" y="5080794"/>
            <a:ext cx="3289300" cy="1313656"/>
          </a:xfrm>
          <a:prstGeom prst="roundRect">
            <a:avLst>
              <a:gd name="adj" fmla="val 7251"/>
            </a:avLst>
          </a:prstGeom>
          <a:solidFill>
            <a:srgbClr val="FFFFFF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0100" y="5264944"/>
            <a:ext cx="3008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contract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0100" y="5541764"/>
            <a:ext cx="3008630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API call plus a plugin name. </a:t>
            </a:r>
            <a:r>
              <a:rPr lang="en-US" sz="1300" dirty="0" err="1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xyz</a:t>
            </a:r>
            <a:r>
              <a:rPr lang="en-US" sz="1300" dirty="0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loads the JAR, calls transform on a Spark DataFrame, returns the result.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68775" y="1318816"/>
            <a:ext cx="7410450" cy="5078809"/>
          </a:xfrm>
          <a:prstGeom prst="roundRect">
            <a:avLst>
              <a:gd name="adj" fmla="val 2438"/>
            </a:avLst>
          </a:prstGeom>
          <a:solidFill>
            <a:srgbClr val="FFFFFF"/>
          </a:solidFill>
          <a:ln w="635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18000" y="1569641"/>
            <a:ext cx="2095500" cy="1076722"/>
          </a:xfrm>
          <a:prstGeom prst="roundRect">
            <a:avLst>
              <a:gd name="adj" fmla="val 8257"/>
            </a:avLst>
          </a:prstGeom>
          <a:solidFill>
            <a:srgbClr val="EAF3FA"/>
          </a:solidFill>
          <a:ln/>
        </p:spPr>
        <p:txBody>
          <a:bodyPr wrap="square" lIns="100962" tIns="100962" rIns="45717" bIns="75562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Request: filters, aggregation keys, attributes, plus an optional plugin name.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4350" y="3417491"/>
            <a:ext cx="1003300" cy="749300"/>
          </a:xfrm>
          <a:prstGeom prst="roundRect">
            <a:avLst>
              <a:gd name="adj" fmla="val 11017"/>
            </a:avLst>
          </a:prstGeom>
          <a:solidFill>
            <a:srgbClr val="EAF0F6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1500" y="3500041"/>
            <a:ext cx="889000" cy="20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24"/>
              </a:lnSpc>
              <a:buNone/>
            </a:pPr>
            <a:r>
              <a:rPr lang="en-US" sz="1186" b="1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</a:t>
            </a:r>
            <a:endParaRPr lang="en-US" sz="1186" dirty="0"/>
          </a:p>
        </p:txBody>
      </p:sp>
      <p:sp>
        <p:nvSpPr>
          <p:cNvPr id="18" name="Text 16"/>
          <p:cNvSpPr/>
          <p:nvPr/>
        </p:nvSpPr>
        <p:spPr>
          <a:xfrm>
            <a:off x="4368800" y="3715643"/>
            <a:ext cx="914400" cy="39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59"/>
              </a:lnSpc>
              <a:buNone/>
            </a:pPr>
            <a:r>
              <a:rPr lang="en-US" sz="1155" dirty="0">
                <a:solidFill>
                  <a:srgbClr val="3C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Protobuf call</a:t>
            </a:r>
            <a:endParaRPr lang="en-US" sz="1155" dirty="0"/>
          </a:p>
        </p:txBody>
      </p:sp>
      <p:sp>
        <p:nvSpPr>
          <p:cNvPr id="19" name="Shape 17"/>
          <p:cNvSpPr/>
          <p:nvPr/>
        </p:nvSpPr>
        <p:spPr>
          <a:xfrm>
            <a:off x="5975350" y="3226991"/>
            <a:ext cx="1257300" cy="1130300"/>
          </a:xfrm>
          <a:prstGeom prst="roundRect">
            <a:avLst>
              <a:gd name="adj" fmla="val 7303"/>
            </a:avLst>
          </a:prstGeom>
          <a:solidFill>
            <a:srgbClr val="EAF0F6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45200" y="3468390"/>
            <a:ext cx="11176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ADF </a:t>
            </a:r>
            <a:r>
              <a:rPr lang="en-US" sz="1300" b="1" dirty="0" err="1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xyz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45200" y="3704530"/>
            <a:ext cx="11176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3C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Routes by plugin name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16850" y="1575991"/>
            <a:ext cx="1765300" cy="1066800"/>
          </a:xfrm>
          <a:prstGeom prst="roundRect">
            <a:avLst>
              <a:gd name="adj" fmla="val 7738"/>
            </a:avLst>
          </a:prstGeom>
          <a:solidFill>
            <a:srgbClr val="D6EEFB"/>
          </a:solidFill>
          <a:ln w="12700">
            <a:solidFill>
              <a:srgbClr val="007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86700" y="1785640"/>
            <a:ext cx="16256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86700" y="2021780"/>
            <a:ext cx="16256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3C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Spark SQL from filters and aggregation keys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16850" y="3163491"/>
            <a:ext cx="1765300" cy="1193800"/>
          </a:xfrm>
          <a:prstGeom prst="roundRect">
            <a:avLst>
              <a:gd name="adj" fmla="val 6915"/>
            </a:avLst>
          </a:prstGeom>
          <a:solidFill>
            <a:srgbClr val="00AEEF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86700" y="3333750"/>
            <a:ext cx="16256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Plugin host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86700" y="3569891"/>
            <a:ext cx="162560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Finds client JAR by name, calls transform()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16850" y="4877991"/>
            <a:ext cx="1765300" cy="1193800"/>
          </a:xfrm>
          <a:prstGeom prst="roundRect">
            <a:avLst>
              <a:gd name="adj" fmla="val 6915"/>
            </a:avLst>
          </a:prstGeom>
          <a:solidFill>
            <a:srgbClr val="00AEEF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886700" y="5048250"/>
            <a:ext cx="16256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 JAR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86700" y="5284391"/>
            <a:ext cx="162560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Implements transform() on a Spark DataFrame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096500" y="1569641"/>
            <a:ext cx="1333500" cy="4508500"/>
          </a:xfrm>
          <a:prstGeom prst="roundRect">
            <a:avLst>
              <a:gd name="adj" fmla="val 6667"/>
            </a:avLst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160000" y="3182739"/>
            <a:ext cx="12065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Spark on HDFS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160000" y="3642320"/>
            <a:ext cx="1206500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BFE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Spark context runs both paths over distributed data</a:t>
            </a:r>
            <a:endParaRPr lang="en-US" sz="1200" dirty="0"/>
          </a:p>
        </p:txBody>
      </p:sp>
      <p:pic>
        <p:nvPicPr>
          <p:cNvPr id="34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3200" y="3550841"/>
            <a:ext cx="736600" cy="101600"/>
          </a:xfrm>
          <a:prstGeom prst="rect">
            <a:avLst/>
          </a:prstGeom>
        </p:spPr>
      </p:pic>
      <p:pic>
        <p:nvPicPr>
          <p:cNvPr id="35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83200" y="3931841"/>
            <a:ext cx="736600" cy="101600"/>
          </a:xfrm>
          <a:prstGeom prst="rect">
            <a:avLst/>
          </a:prstGeom>
        </p:spPr>
      </p:pic>
      <p:pic>
        <p:nvPicPr>
          <p:cNvPr id="36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53200" y="2058591"/>
            <a:ext cx="1308100" cy="1212850"/>
          </a:xfrm>
          <a:prstGeom prst="rect">
            <a:avLst/>
          </a:prstGeom>
        </p:spPr>
      </p:pic>
      <p:pic>
        <p:nvPicPr>
          <p:cNvPr id="37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62800" y="3715941"/>
            <a:ext cx="723900" cy="152400"/>
          </a:xfrm>
          <a:prstGeom prst="rect">
            <a:avLst/>
          </a:prstGeom>
        </p:spPr>
      </p:pic>
      <p:pic>
        <p:nvPicPr>
          <p:cNvPr id="38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623300" y="4287441"/>
            <a:ext cx="152400" cy="660400"/>
          </a:xfrm>
          <a:prstGeom prst="rect">
            <a:avLst/>
          </a:prstGeom>
        </p:spPr>
      </p:pic>
      <p:pic>
        <p:nvPicPr>
          <p:cNvPr id="39" name="Image 5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37700" y="2058591"/>
            <a:ext cx="609600" cy="101600"/>
          </a:xfrm>
          <a:prstGeom prst="rect">
            <a:avLst/>
          </a:prstGeom>
        </p:spPr>
      </p:pic>
      <p:pic>
        <p:nvPicPr>
          <p:cNvPr id="40" name="Image 6" descr="connector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512300" y="5398691"/>
            <a:ext cx="660400" cy="15240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308600" y="3360341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5308600" y="4033441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6604000" y="1849041"/>
            <a:ext cx="1206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006A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plugin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7213600" y="3550841"/>
            <a:ext cx="622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60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plugin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8775700" y="4541441"/>
            <a:ext cx="1219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60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transform()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4318000" y="5206901"/>
            <a:ext cx="254000" cy="50800"/>
          </a:xfrm>
          <a:prstGeom prst="rect">
            <a:avLst/>
          </a:prstGeom>
          <a:solidFill>
            <a:srgbClr val="007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8"/>
          <p:cNvSpPr/>
          <p:nvPr/>
        </p:nvSpPr>
        <p:spPr>
          <a:xfrm>
            <a:off x="4660900" y="5125641"/>
            <a:ext cx="16765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query path</a:t>
            </a:r>
            <a:endParaRPr lang="en-US" sz="1200" dirty="0"/>
          </a:p>
        </p:txBody>
      </p:sp>
      <p:sp>
        <p:nvSpPr>
          <p:cNvPr id="48" name="Shape 39"/>
          <p:cNvSpPr/>
          <p:nvPr/>
        </p:nvSpPr>
        <p:spPr>
          <a:xfrm>
            <a:off x="4318000" y="5509121"/>
            <a:ext cx="254000" cy="50800"/>
          </a:xfrm>
          <a:prstGeom prst="rect">
            <a:avLst/>
          </a:pr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0"/>
          <p:cNvSpPr/>
          <p:nvPr/>
        </p:nvSpPr>
        <p:spPr>
          <a:xfrm>
            <a:off x="4660900" y="5427861"/>
            <a:ext cx="9255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Plugin path</a:t>
            </a:r>
            <a:endParaRPr lang="en-US" sz="1200" dirty="0"/>
          </a:p>
        </p:txBody>
      </p:sp>
      <p:sp>
        <p:nvSpPr>
          <p:cNvPr id="50" name="Shape 41"/>
          <p:cNvSpPr/>
          <p:nvPr/>
        </p:nvSpPr>
        <p:spPr>
          <a:xfrm>
            <a:off x="4318000" y="5836741"/>
            <a:ext cx="254000" cy="0"/>
          </a:xfrm>
          <a:prstGeom prst="line">
            <a:avLst/>
          </a:prstGeom>
          <a:noFill/>
          <a:ln w="25400">
            <a:solidFill>
              <a:srgbClr val="00395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2"/>
          <p:cNvSpPr/>
          <p:nvPr/>
        </p:nvSpPr>
        <p:spPr>
          <a:xfrm>
            <a:off x="4660900" y="5730081"/>
            <a:ext cx="15137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Response to client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F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00A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600" y="457200"/>
            <a:ext cx="113019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06A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C4 MODEL · LEVEL 2 · CONTAINERS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609600" y="721320"/>
            <a:ext cx="1130198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 and relationships of the plugin framework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775" y="1168400"/>
            <a:ext cx="8172450" cy="5080000"/>
          </a:xfrm>
          <a:prstGeom prst="roundRect">
            <a:avLst>
              <a:gd name="adj" fmla="val 2437"/>
            </a:avLst>
          </a:prstGeom>
          <a:solidFill>
            <a:srgbClr val="FFFFFF"/>
          </a:solidFill>
          <a:ln w="6350">
            <a:solidFill>
              <a:srgbClr val="CF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2000" y="1704975"/>
            <a:ext cx="1016000" cy="952500"/>
          </a:xfrm>
          <a:prstGeom prst="roundRect">
            <a:avLst>
              <a:gd name="adj" fmla="val 9333"/>
            </a:avLst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2000" y="1781175"/>
            <a:ext cx="1016000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151"/>
              </a:lnSpc>
              <a:buNone/>
            </a:pPr>
            <a:r>
              <a:rPr lang="en-US" sz="959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consumer</a:t>
            </a:r>
            <a:endParaRPr lang="en-US" sz="959" dirty="0"/>
          </a:p>
        </p:txBody>
      </p:sp>
      <p:sp>
        <p:nvSpPr>
          <p:cNvPr id="8" name="Text 6"/>
          <p:cNvSpPr/>
          <p:nvPr/>
        </p:nvSpPr>
        <p:spPr>
          <a:xfrm>
            <a:off x="978306" y="1983680"/>
            <a:ext cx="774294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3894" indent="-113894" algn="l">
              <a:lnSpc>
                <a:spcPts val="1053"/>
              </a:lnSpc>
              <a:buSzPct val="100000"/>
              <a:buChar char="•"/>
            </a:pPr>
            <a:r>
              <a:rPr lang="en-US" sz="780" i="1" dirty="0" err="1">
                <a:solidFill>
                  <a:srgbClr val="BFE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xyz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762000" y="4778375"/>
            <a:ext cx="1016000" cy="952500"/>
          </a:xfrm>
          <a:prstGeom prst="roundRect">
            <a:avLst>
              <a:gd name="adj" fmla="val 9333"/>
            </a:avLst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2800" y="4934645"/>
            <a:ext cx="9144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Plugin developer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5368826"/>
            <a:ext cx="91440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i="1" dirty="0" err="1">
                <a:solidFill>
                  <a:srgbClr val="BFE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xyz</a:t>
            </a:r>
            <a:r>
              <a:rPr lang="en-US" sz="1200" i="1" dirty="0">
                <a:solidFill>
                  <a:srgbClr val="BFE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Tenants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1750" y="1628775"/>
            <a:ext cx="1765300" cy="1104900"/>
          </a:xfrm>
          <a:prstGeom prst="roundRect">
            <a:avLst>
              <a:gd name="adj" fmla="val 7471"/>
            </a:avLst>
          </a:prstGeom>
          <a:solidFill>
            <a:srgbClr val="EAF0F6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28900" y="1838424"/>
            <a:ext cx="16510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 err="1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xyz</a:t>
            </a:r>
            <a:r>
              <a:rPr lang="en-US" sz="1300" b="1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28900" y="2074565"/>
            <a:ext cx="165100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3C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[Protobuf API]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78100" y="2318345"/>
            <a:ext cx="175260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Routes by plugin name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48250" y="1628775"/>
            <a:ext cx="1765300" cy="1104900"/>
          </a:xfrm>
          <a:prstGeom prst="roundRect">
            <a:avLst>
              <a:gd name="adj" fmla="val 7471"/>
            </a:avLst>
          </a:prstGeom>
          <a:solidFill>
            <a:srgbClr val="D6EEFB"/>
          </a:solidFill>
          <a:ln w="12700">
            <a:solidFill>
              <a:srgbClr val="007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05400" y="1735534"/>
            <a:ext cx="16510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5400" y="1971675"/>
            <a:ext cx="165100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3C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[Spark SQL]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05400" y="2215455"/>
            <a:ext cx="16510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Filters, aggregation, attributes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71750" y="3165475"/>
            <a:ext cx="1765300" cy="1104900"/>
          </a:xfrm>
          <a:prstGeom prst="roundRect">
            <a:avLst>
              <a:gd name="adj" fmla="val 7471"/>
            </a:avLst>
          </a:prstGeom>
          <a:solidFill>
            <a:srgbClr val="00AEEF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28900" y="3375124"/>
            <a:ext cx="16510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Plugin framework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28900" y="3611265"/>
            <a:ext cx="165100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[Java, Spark]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78100" y="3855045"/>
            <a:ext cx="175260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Calls client transform()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41900" y="3159125"/>
            <a:ext cx="1778000" cy="1117600"/>
          </a:xfrm>
          <a:prstGeom prst="roundRect">
            <a:avLst>
              <a:gd name="adj" fmla="val 7955"/>
            </a:avLst>
          </a:prstGeom>
          <a:solidFill>
            <a:srgbClr val="0039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92700" y="3272234"/>
            <a:ext cx="16764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Spark runtime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92700" y="3508375"/>
            <a:ext cx="167640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BFE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[Spark context]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92700" y="3752155"/>
            <a:ext cx="16764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query and plugin logic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71750" y="4702175"/>
            <a:ext cx="1765300" cy="1104900"/>
          </a:xfrm>
          <a:prstGeom prst="roundRect">
            <a:avLst>
              <a:gd name="adj" fmla="val 7471"/>
            </a:avLst>
          </a:prstGeom>
          <a:solidFill>
            <a:srgbClr val="00AEEF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28900" y="4808934"/>
            <a:ext cx="16510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 plugin JARs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28900" y="5045075"/>
            <a:ext cx="165100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[Hosted JAR files]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28900" y="5288855"/>
            <a:ext cx="165100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200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Client-built transform logic</a:t>
            </a:r>
            <a:endParaRPr lang="en-US" sz="1200" dirty="0"/>
          </a:p>
        </p:txBody>
      </p:sp>
      <p:pic>
        <p:nvPicPr>
          <p:cNvPr id="32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27200" y="2130425"/>
            <a:ext cx="889000" cy="101600"/>
          </a:xfrm>
          <a:prstGeom prst="rect">
            <a:avLst/>
          </a:prstGeom>
        </p:spPr>
      </p:pic>
      <p:pic>
        <p:nvPicPr>
          <p:cNvPr id="33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92600" y="2130425"/>
            <a:ext cx="800100" cy="101600"/>
          </a:xfrm>
          <a:prstGeom prst="rect">
            <a:avLst/>
          </a:prstGeom>
        </p:spPr>
      </p:pic>
      <p:pic>
        <p:nvPicPr>
          <p:cNvPr id="34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78200" y="2663825"/>
            <a:ext cx="152400" cy="571500"/>
          </a:xfrm>
          <a:prstGeom prst="rect">
            <a:avLst/>
          </a:prstGeom>
        </p:spPr>
      </p:pic>
      <p:pic>
        <p:nvPicPr>
          <p:cNvPr id="35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80100" y="2689225"/>
            <a:ext cx="101600" cy="520700"/>
          </a:xfrm>
          <a:prstGeom prst="rect">
            <a:avLst/>
          </a:prstGeom>
        </p:spPr>
      </p:pic>
      <p:pic>
        <p:nvPicPr>
          <p:cNvPr id="36" name="Image 4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67200" y="3641725"/>
            <a:ext cx="850900" cy="152400"/>
          </a:xfrm>
          <a:prstGeom prst="rect">
            <a:avLst/>
          </a:prstGeom>
        </p:spPr>
      </p:pic>
      <p:pic>
        <p:nvPicPr>
          <p:cNvPr id="37" name="Image 5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78200" y="4200525"/>
            <a:ext cx="152400" cy="571500"/>
          </a:xfrm>
          <a:prstGeom prst="rect">
            <a:avLst/>
          </a:prstGeom>
        </p:spPr>
      </p:pic>
      <p:pic>
        <p:nvPicPr>
          <p:cNvPr id="38" name="Image 6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27200" y="5203825"/>
            <a:ext cx="889000" cy="101600"/>
          </a:xfrm>
          <a:prstGeom prst="rect">
            <a:avLst/>
          </a:prstGeom>
        </p:spPr>
      </p:pic>
      <p:pic>
        <p:nvPicPr>
          <p:cNvPr id="39" name="Image 7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69100" y="3667125"/>
            <a:ext cx="812800" cy="1016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752600" y="1939925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4318000" y="1939925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006A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3517900" y="2841625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60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plugin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4318000" y="3476625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60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on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3517900" y="4378325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60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loads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1752600" y="5013325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builds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6972300" y="3476625"/>
            <a:ext cx="571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reads</a:t>
            </a:r>
            <a:endParaRPr lang="en-US" sz="1200" dirty="0"/>
          </a:p>
        </p:txBody>
      </p:sp>
      <p:sp>
        <p:nvSpPr>
          <p:cNvPr id="47" name="Shape 37"/>
          <p:cNvSpPr/>
          <p:nvPr/>
        </p:nvSpPr>
        <p:spPr>
          <a:xfrm>
            <a:off x="9048750" y="1171575"/>
            <a:ext cx="2527300" cy="1743472"/>
          </a:xfrm>
          <a:prstGeom prst="roundRect">
            <a:avLst>
              <a:gd name="adj" fmla="val 5463"/>
            </a:avLst>
          </a:prstGeom>
          <a:solidFill>
            <a:srgbClr val="FFFFFF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8"/>
          <p:cNvSpPr/>
          <p:nvPr/>
        </p:nvSpPr>
        <p:spPr>
          <a:xfrm>
            <a:off x="9232900" y="1355725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Plugin contract</a:t>
            </a:r>
            <a:endParaRPr lang="en-US" sz="1400" dirty="0"/>
          </a:p>
        </p:txBody>
      </p:sp>
      <p:sp>
        <p:nvSpPr>
          <p:cNvPr id="49" name="Text 39"/>
          <p:cNvSpPr/>
          <p:nvPr/>
        </p:nvSpPr>
        <p:spPr>
          <a:xfrm>
            <a:off x="9232900" y="1645245"/>
            <a:ext cx="2159000" cy="392410"/>
          </a:xfrm>
          <a:prstGeom prst="roundRect">
            <a:avLst>
              <a:gd name="adj" fmla="val 16182"/>
            </a:avLst>
          </a:prstGeom>
          <a:solidFill>
            <a:srgbClr val="00395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transform(DataFrame)</a:t>
            </a:r>
            <a:endParaRPr lang="en-US" sz="1300" dirty="0"/>
          </a:p>
        </p:txBody>
      </p:sp>
      <p:sp>
        <p:nvSpPr>
          <p:cNvPr id="50" name="Text 40"/>
          <p:cNvSpPr/>
          <p:nvPr/>
        </p:nvSpPr>
        <p:spPr>
          <a:xfrm>
            <a:off x="9232900" y="2113855"/>
            <a:ext cx="222377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defined by </a:t>
            </a:r>
            <a:r>
              <a:rPr lang="en-US" sz="1200" dirty="0" err="1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xyz</a:t>
            </a:r>
            <a:r>
              <a:rPr lang="en-US" sz="1200" dirty="0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implemented by the client. Runs on </a:t>
            </a:r>
            <a:r>
              <a:rPr lang="en-US" sz="1200" dirty="0" err="1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xyz's</a:t>
            </a:r>
            <a:r>
              <a:rPr lang="en-US" sz="1200" dirty="0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Spark context.</a:t>
            </a:r>
            <a:endParaRPr lang="en-US" sz="1200" dirty="0"/>
          </a:p>
        </p:txBody>
      </p:sp>
      <p:sp>
        <p:nvSpPr>
          <p:cNvPr id="51" name="Shape 41"/>
          <p:cNvSpPr/>
          <p:nvPr/>
        </p:nvSpPr>
        <p:spPr>
          <a:xfrm>
            <a:off x="9048750" y="3202484"/>
            <a:ext cx="2527300" cy="1274862"/>
          </a:xfrm>
          <a:prstGeom prst="roundRect">
            <a:avLst>
              <a:gd name="adj" fmla="val 7471"/>
            </a:avLst>
          </a:prstGeom>
          <a:solidFill>
            <a:srgbClr val="00AEEF"/>
          </a:solidFill>
          <a:ln w="12700">
            <a:solidFill>
              <a:srgbClr val="0039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2"/>
          <p:cNvSpPr/>
          <p:nvPr/>
        </p:nvSpPr>
        <p:spPr>
          <a:xfrm>
            <a:off x="9232900" y="3386634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Federated model</a:t>
            </a:r>
            <a:endParaRPr lang="en-US" sz="1400" dirty="0"/>
          </a:p>
        </p:txBody>
      </p:sp>
      <p:sp>
        <p:nvSpPr>
          <p:cNvPr id="53" name="Text 43"/>
          <p:cNvSpPr/>
          <p:nvPr/>
        </p:nvSpPr>
        <p:spPr>
          <a:xfrm>
            <a:off x="9232900" y="3676154"/>
            <a:ext cx="222377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Clients own the logic. </a:t>
            </a:r>
            <a:r>
              <a:rPr lang="en-US" sz="1200" dirty="0" err="1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xyz</a:t>
            </a:r>
            <a:r>
              <a:rPr lang="en-US" sz="1200" dirty="0">
                <a:solidFill>
                  <a:srgbClr val="002A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hosts the JAR and owns the API, runtime and data access.</a:t>
            </a:r>
            <a:endParaRPr lang="en-US" sz="1200" dirty="0"/>
          </a:p>
        </p:txBody>
      </p:sp>
      <p:sp>
        <p:nvSpPr>
          <p:cNvPr id="54" name="Shape 44"/>
          <p:cNvSpPr/>
          <p:nvPr/>
        </p:nvSpPr>
        <p:spPr>
          <a:xfrm>
            <a:off x="9048750" y="4764683"/>
            <a:ext cx="2527300" cy="1480542"/>
          </a:xfrm>
          <a:prstGeom prst="roundRect">
            <a:avLst>
              <a:gd name="adj" fmla="val 6433"/>
            </a:avLst>
          </a:prstGeom>
          <a:solidFill>
            <a:srgbClr val="D6EEFB"/>
          </a:solidFill>
          <a:ln w="12700">
            <a:solidFill>
              <a:srgbClr val="007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5"/>
          <p:cNvSpPr/>
          <p:nvPr/>
        </p:nvSpPr>
        <p:spPr>
          <a:xfrm>
            <a:off x="9232900" y="4948833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Opt-in per request</a:t>
            </a:r>
            <a:endParaRPr lang="en-US" sz="1400" dirty="0"/>
          </a:p>
        </p:txBody>
      </p:sp>
      <p:sp>
        <p:nvSpPr>
          <p:cNvPr id="56" name="Text 46"/>
          <p:cNvSpPr/>
          <p:nvPr/>
        </p:nvSpPr>
        <p:spPr>
          <a:xfrm>
            <a:off x="9232900" y="5238353"/>
            <a:ext cx="2223770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1B334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plugin name in the request selects the JAR. No name means the standard query path.</a:t>
            </a:r>
            <a:endParaRPr lang="en-US" sz="1200" dirty="0"/>
          </a:p>
        </p:txBody>
      </p:sp>
      <p:sp>
        <p:nvSpPr>
          <p:cNvPr id="57" name="Shape 47"/>
          <p:cNvSpPr/>
          <p:nvPr/>
        </p:nvSpPr>
        <p:spPr>
          <a:xfrm>
            <a:off x="7514431" y="3286125"/>
            <a:ext cx="1130300" cy="939800"/>
          </a:xfrm>
          <a:prstGeom prst="roundRect">
            <a:avLst>
              <a:gd name="adj" fmla="val 8784"/>
            </a:avLst>
          </a:prstGeom>
          <a:solidFill>
            <a:srgbClr val="DCE4EB"/>
          </a:solidFill>
          <a:ln w="12700">
            <a:solidFill>
              <a:srgbClr val="3C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8"/>
          <p:cNvSpPr/>
          <p:nvPr/>
        </p:nvSpPr>
        <p:spPr>
          <a:xfrm>
            <a:off x="7682325" y="3535065"/>
            <a:ext cx="930656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560"/>
              </a:lnSpc>
              <a:buSzPct val="100000"/>
              <a:buChar char="•"/>
            </a:pPr>
            <a:r>
              <a:rPr lang="en-US" sz="1300" b="1" dirty="0">
                <a:solidFill>
                  <a:srgbClr val="0039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HDFS</a:t>
            </a:r>
            <a:endParaRPr lang="en-US" sz="1300" dirty="0"/>
          </a:p>
        </p:txBody>
      </p:sp>
      <p:sp>
        <p:nvSpPr>
          <p:cNvPr id="59" name="Text 49"/>
          <p:cNvSpPr/>
          <p:nvPr/>
        </p:nvSpPr>
        <p:spPr>
          <a:xfrm>
            <a:off x="7695787" y="3771205"/>
            <a:ext cx="917194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194" indent="-155194" algn="l">
              <a:lnSpc>
                <a:spcPts val="1620"/>
              </a:lnSpc>
              <a:buSzPct val="100000"/>
              <a:buChar char="•"/>
            </a:pPr>
            <a:r>
              <a:rPr lang="en-US" sz="1200" b="1" dirty="0">
                <a:solidFill>
                  <a:srgbClr val="3C5A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F Plugin Framework">
  <a:themeElements>
    <a:clrScheme name="ADF Plugin Framework">
      <a:dk1>
        <a:srgbClr val="00395D"/>
      </a:dk1>
      <a:lt1>
        <a:srgbClr val="F2F8FC"/>
      </a:lt1>
      <a:dk2>
        <a:srgbClr val="3D6985"/>
      </a:dk2>
      <a:lt2>
        <a:srgbClr val="DAE5EC"/>
      </a:lt2>
      <a:accent1>
        <a:srgbClr val="1B3347"/>
      </a:accent1>
      <a:accent2>
        <a:srgbClr val="00AEEF"/>
      </a:accent2>
      <a:accent3>
        <a:srgbClr val="3C5A73"/>
      </a:accent3>
      <a:accent4>
        <a:srgbClr val="00608F"/>
      </a:accent4>
      <a:accent5>
        <a:srgbClr val="006AA3"/>
      </a:accent5>
      <a:accent6>
        <a:srgbClr val="BFE6F8"/>
      </a:accent6>
      <a:hlink>
        <a:srgbClr val="0563C1"/>
      </a:hlink>
      <a:folHlink>
        <a:srgbClr val="954F72"/>
      </a:folHlink>
    </a:clrScheme>
    <a:fontScheme name="ADF Plugin Framework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438</Words>
  <Application>Microsoft Office PowerPoint</Application>
  <PresentationFormat>Widescreen</PresentationFormat>
  <Paragraphs>70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IBM Plex Sans</vt:lpstr>
      <vt:lpstr>JetBrains Mono</vt:lpstr>
      <vt:lpstr>ADF Plugin Framework</vt:lpstr>
      <vt:lpstr>BYOT - Client owned transform logic, hosted and run by xyz</vt:lpstr>
      <vt:lpstr>Containers and relationships of the plugin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ADF Plugin Framework</dc:title>
  <dc:subject/>
  <dc:creator>Aseem Mathur</dc:creator>
  <cp:lastModifiedBy>Aseem Mathur</cp:lastModifiedBy>
  <cp:revision>2</cp:revision>
  <dcterms:created xsi:type="dcterms:W3CDTF">2026-10-11T14:58:05Z</dcterms:created>
  <dcterms:modified xsi:type="dcterms:W3CDTF">2026-10-11T15:02:45Z</dcterms:modified>
</cp:coreProperties>
</file>